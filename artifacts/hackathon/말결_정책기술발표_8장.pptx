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ExtraBold"/>
      <p:bold r:id="rId16"/>
      <p:boldItalic r:id="rId17"/>
    </p:embeddedFont>
    <p:embeddedFont>
      <p:font typeface="Inter Tigh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6" Type="http://schemas.openxmlformats.org/officeDocument/2006/relationships/font" Target="fonts/RobotoExtraBold-bold.fntdata"/><Relationship Id="rId17" Type="http://schemas.openxmlformats.org/officeDocument/2006/relationships/font" Target="fonts/RobotoExtraBold-boldItalic.fntdata"/><Relationship Id="rId18" Type="http://schemas.openxmlformats.org/officeDocument/2006/relationships/font" Target="fonts/InterTight-regular.fntdata"/><Relationship Id="rId19" Type="http://schemas.openxmlformats.org/officeDocument/2006/relationships/font" Target="fonts/InterTight-bold.fntdata"/><Relationship Id="rId20" Type="http://schemas.openxmlformats.org/officeDocument/2006/relationships/font" Target="fonts/InterTight-italic.fntdata"/><Relationship Id="rId21" Type="http://schemas.openxmlformats.org/officeDocument/2006/relationships/font" Target="fonts/InterTight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/>
        </p:nvSpPr>
        <p:spPr>
          <a:xfrm>
            <a:off x="8453900" y="4675775"/>
            <a:ext cx="56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5sec</a:t>
            </a:r>
            <a:endParaRPr b="0" i="0" sz="1000" u="none" cap="none" strike="noStrike"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000000" y="4675775"/>
            <a:ext cx="314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AI IMPACT · AI for Good</a:t>
            </a:r>
            <a:endParaRPr b="0" i="0" sz="1000" u="none" cap="none" strike="noStrike"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57200" y="658368"/>
            <a:ext cx="40233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4000" b="1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말결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1417320"/>
            <a:ext cx="40233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전화 기반 생활지원 연계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2011680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핵심 사례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2258568"/>
            <a:ext cx="40233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쌀 보유·조리 곤란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생필품 부족·방문 곤란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2926080"/>
            <a:ext cx="40233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복합 필요와 분리된 지원 경로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기관 탐색·반복 설명·조건 조율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892040" y="868680"/>
            <a:ext cx="3703320" cy="2880360"/>
          </a:xfrm>
          <a:prstGeom prst="rect">
            <a:avLst/>
          </a:prstGeom>
          <a:solidFill>
            <a:srgbClr val="242629"/>
          </a:solidFill>
          <a:ln w="9525">
            <a:solidFill>
              <a:srgbClr val="454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5074920" y="1033271"/>
            <a:ext cx="1280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1  생활 언어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74920" y="1335024"/>
            <a:ext cx="3337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시민의 필요·이동·조리 제약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276088" y="1691639"/>
            <a:ext cx="0" cy="210313"/>
          </a:xfrm>
          <a:prstGeom prst="line">
            <a:avLst/>
          </a:prstGeom>
          <a:ln w="9525">
            <a:solidFill>
              <a:srgbClr val="4546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074920" y="1947672"/>
            <a:ext cx="1280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2  기관 연결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74920" y="2249424"/>
            <a:ext cx="3337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사업별 이용 조건·접수 창구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276088" y="2606039"/>
            <a:ext cx="0" cy="210313"/>
          </a:xfrm>
          <a:prstGeom prst="line">
            <a:avLst/>
          </a:prstGeom>
          <a:ln w="9525">
            <a:solidFill>
              <a:srgbClr val="4546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074920" y="2862072"/>
            <a:ext cx="1280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3  후속 처리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74920" y="3163824"/>
            <a:ext cx="3337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기관 문의·시민 회신·재선택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3858768"/>
            <a:ext cx="4572000" cy="3840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502920" y="3904487"/>
            <a:ext cx="4480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▎</a:t>
            </a:r>
            <a:r>
              <a:rPr sz="11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전화 한 통의 접수 · 복수 필요의 분리 · 지원 경로의 연결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" y="4370832"/>
            <a:ext cx="38404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출처: POLICY_BASIS.md 1·2절, 2026.9.18 확인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8453900" y="4675775"/>
            <a:ext cx="56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15sec</a:t>
            </a:r>
            <a:endParaRPr b="0" i="0" sz="1000" u="none" cap="none" strike="noStrike"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153550" y="4675775"/>
            <a:ext cx="73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Slide #1</a:t>
            </a:r>
            <a:endParaRPr b="0" i="0" sz="1000" u="none" cap="none" strike="noStrike"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000000" y="4675775"/>
            <a:ext cx="314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AI IMPACT · AI for Good</a:t>
            </a:r>
            <a:endParaRPr b="0" i="0" sz="1000" u="none" cap="none" strike="noStrike"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400" b="1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정책 근거의 업무 구체화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987552"/>
            <a:ext cx="7680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통합지원의 제도 기반 · 상담 이후의 실행 부담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1417320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근거 영역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97480" y="1417320"/>
            <a:ext cx="1783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제도적 업무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09160" y="1417320"/>
            <a:ext cx="1783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제품의 실행 단위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20840" y="1417320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권한 구분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02920" y="1709928"/>
            <a:ext cx="8138160" cy="0"/>
          </a:xfrm>
          <a:prstGeom prst="line">
            <a:avLst/>
          </a:prstGeom>
          <a:ln w="9525">
            <a:solidFill>
              <a:srgbClr val="4546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02920" y="1801368"/>
            <a:ext cx="1965960" cy="1463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돌봄통합지원법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돌봄통합지원법 시행규칙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서울시 지역사회 돌봄
통합지원 조례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97480" y="1801368"/>
            <a:ext cx="178308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지역 자원·전달체계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4507992" y="2029967"/>
            <a:ext cx="155448" cy="0"/>
          </a:xfrm>
          <a:prstGeom prst="line">
            <a:avLst/>
          </a:prstGeom>
          <a:ln w="9525">
            <a:solidFill>
              <a:srgbClr val="F4A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4709160" y="1801368"/>
            <a:ext cx="178308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사업별 접수처·이용 절차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697480" y="2368296"/>
            <a:ext cx="178308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서비스 연계·점검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4507992" y="2596896"/>
            <a:ext cx="155448" cy="0"/>
          </a:xfrm>
          <a:prstGeom prst="line">
            <a:avLst/>
          </a:prstGeom>
          <a:ln w="9525">
            <a:solidFill>
              <a:srgbClr val="F4A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4709160" y="2368296"/>
            <a:ext cx="178308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기관 문의·일정·수령 조건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97480" y="2935224"/>
            <a:ext cx="178308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신청·조사·개인별지원계획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4507992" y="3163824"/>
            <a:ext cx="155448" cy="0"/>
          </a:xfrm>
          <a:prstGeom prst="line">
            <a:avLst/>
          </a:prstGeom>
          <a:ln w="9525">
            <a:solidFill>
              <a:srgbClr val="F4A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4709160" y="2935224"/>
            <a:ext cx="178308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신청 의사 전달·결과 회신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6611112" y="1801368"/>
            <a:ext cx="0" cy="1947671"/>
          </a:xfrm>
          <a:prstGeom prst="line">
            <a:avLst/>
          </a:prstGeom>
          <a:ln w="9525">
            <a:solidFill>
              <a:srgbClr val="4546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720840" y="1801368"/>
            <a:ext cx="1920240" cy="1737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시민의 동의·선택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기관의 자격·제공 판단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담당자의 예외 처리·인계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2920" y="4041648"/>
            <a:ext cx="8138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▎</a:t>
            </a:r>
            <a:r>
              <a:rPr sz="12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법령 근거 → 허용 업무 → 동의 범위 → 제한 실증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2920" y="4370832"/>
            <a:ext cx="81381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출처: 의료ㆍ요양 등 지역 돌봄의 통합지원에 관한 법률(법률 제21777호, 2026.9.10 시행) · 동법 시행규칙(2026.3.27 시행) · 서울특별시 지역사회 돌봄 통합지원에 관한 조례(2026.1.5 시행), 국가법령정보센터 2026.9.18 확인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8453900" y="4675775"/>
            <a:ext cx="56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15sec</a:t>
            </a:r>
            <a:endParaRPr b="0" i="0" sz="1000" u="none" cap="none" strike="noStrike"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153550" y="4675775"/>
            <a:ext cx="73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Slide #2</a:t>
            </a:r>
            <a:endParaRPr b="0" i="0" sz="1000" u="none" cap="none" strike="noStrike"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3000000" y="4675775"/>
            <a:ext cx="314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AI IMPACT · AI for Good</a:t>
            </a:r>
            <a:endParaRPr b="0" i="0" sz="1000" u="none" cap="none" strike="noStrike"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400" b="1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디지털 약자의 AI 접근성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2920" y="987552"/>
            <a:ext cx="7680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팀의 전문영역 · 익숙한 전화 기반 접점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1417320"/>
            <a:ext cx="4572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전문영역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06440" y="1417320"/>
            <a:ext cx="2834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이용 접점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502920" y="1709928"/>
            <a:ext cx="8138160" cy="0"/>
          </a:xfrm>
          <a:prstGeom prst="line">
            <a:avLst/>
          </a:prstGeom>
          <a:ln w="9525">
            <a:solidFill>
              <a:srgbClr val="4546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502920" y="1828800"/>
            <a:ext cx="4572000" cy="1005840"/>
          </a:xfrm>
          <a:prstGeom prst="rect">
            <a:avLst/>
          </a:prstGeom>
          <a:solidFill>
            <a:srgbClr val="242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640080" y="1901952"/>
            <a:ext cx="1463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A  정책·회계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94560" y="1901952"/>
            <a:ext cx="274320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사업 절차·규정 해석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업무 권한·증거·책임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현장 실증·성과 측정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5074920" y="2331720"/>
            <a:ext cx="658368" cy="548640"/>
          </a:xfrm>
          <a:prstGeom prst="line">
            <a:avLst/>
          </a:prstGeom>
          <a:ln w="9525">
            <a:solidFill>
              <a:srgbClr val="4546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502920" y="2944368"/>
            <a:ext cx="4572000" cy="1005840"/>
          </a:xfrm>
          <a:prstGeom prst="rect">
            <a:avLst/>
          </a:prstGeom>
          <a:solidFill>
            <a:srgbClr val="242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640080" y="3017520"/>
            <a:ext cx="1463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B  AI·에이전트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94560" y="3017520"/>
            <a:ext cx="274320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요구 명확화·작업 분해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역할별 도구·검증 절차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동의·상태·이력 관리</a:t>
            </a:r>
          </a:p>
        </p:txBody>
      </p:sp>
      <p:cxnSp>
        <p:nvCxnSpPr>
          <p:cNvPr id="93" name="Connector 92"/>
          <p:cNvCxnSpPr/>
          <p:nvPr/>
        </p:nvCxnSpPr>
        <p:spPr>
          <a:xfrm flipV="1">
            <a:off x="5074920" y="2880360"/>
            <a:ext cx="658368" cy="566927"/>
          </a:xfrm>
          <a:prstGeom prst="line">
            <a:avLst/>
          </a:prstGeom>
          <a:ln w="9525">
            <a:solidFill>
              <a:srgbClr val="4546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5806440" y="1828800"/>
            <a:ext cx="2834640" cy="2121408"/>
          </a:xfrm>
          <a:prstGeom prst="rect">
            <a:avLst/>
          </a:prstGeom>
          <a:solidFill>
            <a:srgbClr val="242629"/>
          </a:solidFill>
          <a:ln w="9525">
            <a:solidFill>
              <a:srgbClr val="454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5943600" y="1965960"/>
            <a:ext cx="2560320" cy="1920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시민의 음성 요청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기관의 전화 응답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담당자의 미해결 요청 관리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02920" y="4041648"/>
            <a:ext cx="8138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▎</a:t>
            </a:r>
            <a:r>
              <a:rPr sz="12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앱 설치·검색·반복 입력의 부담 완화 · 시민과 기관의 기존 접점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02920" y="4370832"/>
            <a:ext cx="81381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출처: 말결 정책·실증 근거(POLICY_BASIS.md) 2·9절 · 계획 인계문(planning-handoff.md), 2026.9.18 확인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/>
        </p:nvSpPr>
        <p:spPr>
          <a:xfrm>
            <a:off x="8453900" y="4675775"/>
            <a:ext cx="56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15sec</a:t>
            </a:r>
            <a:endParaRPr b="0" i="0" sz="1000" u="none" cap="none" strike="noStrike"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153550" y="4675775"/>
            <a:ext cx="73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Slide #3</a:t>
            </a:r>
            <a:endParaRPr b="0" i="0" sz="1000" u="none" cap="none" strike="noStrike"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3000000" y="4675775"/>
            <a:ext cx="314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AI IMPACT · AI for Good</a:t>
            </a:r>
            <a:endParaRPr b="0" i="0" sz="1000" u="none" cap="none" strike="noStrike"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400" b="1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4개 사업의 생활지원 연결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2920" y="987552"/>
            <a:ext cx="7680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식사·생필품 중심 범위 · 사업별 기준과 접수 경로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02920" y="1417320"/>
            <a:ext cx="1956816" cy="1481328"/>
          </a:xfrm>
          <a:prstGeom prst="rect">
            <a:avLst/>
          </a:prstGeom>
          <a:solidFill>
            <a:srgbClr val="242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612648" y="1490472"/>
            <a:ext cx="17739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1 </a:t>
            </a:r>
            <a:r>
              <a:rPr sz="1250" b="1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푸드뱅크·푸드마켓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2648" y="1856232"/>
            <a:ext cx="177393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지원 범위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2648" y="2057400"/>
            <a:ext cx="17739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식품·생필품 지원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12648" y="2350008"/>
            <a:ext cx="177393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확인 항목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12648" y="2551176"/>
            <a:ext cx="17739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선정·수령 조건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563063" y="1417320"/>
            <a:ext cx="1956816" cy="1481328"/>
          </a:xfrm>
          <a:prstGeom prst="rect">
            <a:avLst/>
          </a:prstGeom>
          <a:solidFill>
            <a:srgbClr val="242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2672791" y="1490472"/>
            <a:ext cx="17739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2 </a:t>
            </a:r>
            <a:r>
              <a:rPr sz="1250" b="1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찾아가는 푸드마켓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672791" y="1856232"/>
            <a:ext cx="177393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지원 범위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672791" y="2057400"/>
            <a:ext cx="17739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지역별 운영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672791" y="2350008"/>
            <a:ext cx="177393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확인 항목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672791" y="2551176"/>
            <a:ext cx="17739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이동 제약·수령 방식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23206" y="1417320"/>
            <a:ext cx="1956816" cy="1481328"/>
          </a:xfrm>
          <a:prstGeom prst="rect">
            <a:avLst/>
          </a:prstGeom>
          <a:solidFill>
            <a:srgbClr val="242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4732934" y="1490472"/>
            <a:ext cx="17739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3 </a:t>
            </a:r>
            <a:r>
              <a:rPr sz="1250" b="1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그냥드림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732934" y="1856232"/>
            <a:ext cx="177393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지원 범위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732934" y="2057400"/>
            <a:ext cx="17739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위기 식품지원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32934" y="2350008"/>
            <a:ext cx="177393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확인 항목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732934" y="2551176"/>
            <a:ext cx="17739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방문·상담 절차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683349" y="1417320"/>
            <a:ext cx="1956816" cy="1481328"/>
          </a:xfrm>
          <a:prstGeom prst="rect">
            <a:avLst/>
          </a:prstGeom>
          <a:solidFill>
            <a:srgbClr val="242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6793077" y="1490472"/>
            <a:ext cx="17739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4 </a:t>
            </a:r>
            <a:r>
              <a:rPr sz="1250" b="1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돌봄SOS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793077" y="1856232"/>
            <a:ext cx="177393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지원 범위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793077" y="2057400"/>
            <a:ext cx="17739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식사배달·돌봄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793077" y="2350008"/>
            <a:ext cx="177393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확인 항목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793077" y="2551176"/>
            <a:ext cx="17739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상담·기관 의뢰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02920" y="3035808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공통 연결 구조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02920" y="3291839"/>
            <a:ext cx="47548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사업 ↔ 기관·사업장 ↔ 관할·목적별 창구 ↔ 이용 절차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5532120" y="3081527"/>
            <a:ext cx="0" cy="521209"/>
          </a:xfrm>
          <a:prstGeom prst="line">
            <a:avLst/>
          </a:prstGeom>
          <a:ln w="9525">
            <a:solidFill>
              <a:srgbClr val="4546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5715000" y="3035808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확인된 데이터 규모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715000" y="3291839"/>
            <a:ext cx="2926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공식 원천 65행 → 정규화 37기관 + 보완 3창구 = </a:t>
            </a:r>
            <a:r>
              <a:rPr sz="115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40개 기관·창구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02920" y="3749039"/>
            <a:ext cx="8138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▎</a:t>
            </a:r>
            <a:r>
              <a:rPr sz="12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필요별 경로 조회 · 기관별 조건 확인 · 후속 문의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02920" y="4370832"/>
            <a:ext cx="81381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출처: 서울잇다푸드뱅크 이용안내·기관 목록·그냥드림 안내 · 서울시 찾아가는 푸드마켓 운영(2026.3.20 수정) · 서울복지포털 돌봄SOS · 말결 data/support-network.json, 2026.9.18 확인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8453900" y="4675775"/>
            <a:ext cx="56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15sec</a:t>
            </a:r>
            <a:endParaRPr b="0" i="0" sz="1000" u="none" cap="none" strike="noStrike"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153550" y="4675775"/>
            <a:ext cx="73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Slide #4</a:t>
            </a:r>
            <a:endParaRPr b="0" i="0" sz="1000" u="none" cap="none" strike="noStrike"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3000000" y="4675775"/>
            <a:ext cx="314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AI IMPACT · AI for Good</a:t>
            </a:r>
            <a:endParaRPr b="0" i="0" sz="1000" u="none" cap="none" strike="noStrike"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400" b="1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동의 기반 대리 수행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2920" y="987552"/>
            <a:ext cx="7680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시민 요청·기관 문의·결과 회신의 실행 구조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02920" y="1463040"/>
            <a:ext cx="1828800" cy="1325880"/>
          </a:xfrm>
          <a:prstGeom prst="rect">
            <a:avLst/>
          </a:prstGeom>
          <a:solidFill>
            <a:srgbClr val="242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612648" y="1536192"/>
            <a:ext cx="1645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1  </a:t>
            </a:r>
            <a:r>
              <a:rPr sz="1300" b="1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시민 접수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12648" y="1874520"/>
            <a:ext cx="164592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필요·제약 분리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기관·목적·전달 정보 동의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2368296" y="1737360"/>
            <a:ext cx="201167" cy="0"/>
          </a:xfrm>
          <a:prstGeom prst="line">
            <a:avLst/>
          </a:prstGeom>
          <a:ln w="9525">
            <a:solidFill>
              <a:srgbClr val="F4A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ectangle 118"/>
          <p:cNvSpPr/>
          <p:nvPr/>
        </p:nvSpPr>
        <p:spPr>
          <a:xfrm>
            <a:off x="2606039" y="1463040"/>
            <a:ext cx="1828800" cy="1325880"/>
          </a:xfrm>
          <a:prstGeom prst="rect">
            <a:avLst/>
          </a:prstGeom>
          <a:solidFill>
            <a:srgbClr val="242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2715768" y="1536192"/>
            <a:ext cx="1645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2  </a:t>
            </a:r>
            <a:r>
              <a:rPr sz="1300" b="1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기관 문의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715768" y="1874520"/>
            <a:ext cx="164592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이용 조건·일정 확인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동의 범위의 신청 의사 전달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4471416" y="1737360"/>
            <a:ext cx="201167" cy="0"/>
          </a:xfrm>
          <a:prstGeom prst="line">
            <a:avLst/>
          </a:prstGeom>
          <a:ln w="9525">
            <a:solidFill>
              <a:srgbClr val="F4A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/>
          <p:cNvSpPr/>
          <p:nvPr/>
        </p:nvSpPr>
        <p:spPr>
          <a:xfrm>
            <a:off x="4709159" y="1463040"/>
            <a:ext cx="1828800" cy="1325880"/>
          </a:xfrm>
          <a:prstGeom prst="rect">
            <a:avLst/>
          </a:prstGeom>
          <a:solidFill>
            <a:srgbClr val="242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4818888" y="1536192"/>
            <a:ext cx="1645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3  </a:t>
            </a:r>
            <a:r>
              <a:rPr sz="1300" b="1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시민 회신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18888" y="1874520"/>
            <a:ext cx="164592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가능 조건·준비사항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중요 변경의 재선택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6574536" y="1737360"/>
            <a:ext cx="201167" cy="0"/>
          </a:xfrm>
          <a:prstGeom prst="line">
            <a:avLst/>
          </a:prstGeom>
          <a:ln w="9525">
            <a:solidFill>
              <a:srgbClr val="F4A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ectangle 126"/>
          <p:cNvSpPr/>
          <p:nvPr/>
        </p:nvSpPr>
        <p:spPr>
          <a:xfrm>
            <a:off x="6812279" y="1463040"/>
            <a:ext cx="1828800" cy="1325880"/>
          </a:xfrm>
          <a:prstGeom prst="rect">
            <a:avLst/>
          </a:prstGeom>
          <a:solidFill>
            <a:srgbClr val="242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6922007" y="1536192"/>
            <a:ext cx="1645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4  </a:t>
            </a:r>
            <a:r>
              <a:rPr sz="1300" b="1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후속 처리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22007" y="1874520"/>
            <a:ext cx="164592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기관 재연락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미해결 필요·담당자 인계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286000" y="1828800"/>
            <a:ext cx="3657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850" b="0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동의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5623559" y="2788920"/>
            <a:ext cx="0" cy="201168"/>
          </a:xfrm>
          <a:prstGeom prst="line">
            <a:avLst/>
          </a:prstGeom>
          <a:ln w="9525">
            <a:solidFill>
              <a:srgbClr val="4546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3520439" y="2990088"/>
            <a:ext cx="2103120" cy="0"/>
          </a:xfrm>
          <a:prstGeom prst="line">
            <a:avLst/>
          </a:prstGeom>
          <a:ln w="9525">
            <a:solidFill>
              <a:srgbClr val="4546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3520439" y="2807208"/>
            <a:ext cx="0" cy="182880"/>
          </a:xfrm>
          <a:prstGeom prst="line">
            <a:avLst/>
          </a:prstGeom>
          <a:ln w="9525">
            <a:solidFill>
              <a:srgbClr val="4546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3657599" y="2999232"/>
            <a:ext cx="1828799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5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시민 재선택 → 기관 재문의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02920" y="324612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부분 해결 사례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828800" y="3246120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식사 연결 유지 · 생필품 경로 재탐색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02920" y="3703320"/>
            <a:ext cx="8138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▎</a:t>
            </a:r>
            <a:r>
              <a:rPr sz="12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문의·신청 의사 전달·접수·제공의 구분 · 기관의 최종 판단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02920" y="4370832"/>
            <a:ext cx="81381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출처: 말결 정책·실증 근거(POLICY_BASIS.md) 5·7.2절 · 전화 처리 계약(phone-goal-prompt.md), 2026.9.18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8453900" y="4675775"/>
            <a:ext cx="56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15sec</a:t>
            </a:r>
            <a:endParaRPr b="0" i="0" sz="1000" u="none" cap="none" strike="noStrike"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153550" y="4675775"/>
            <a:ext cx="73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Slide #5</a:t>
            </a:r>
            <a:endParaRPr b="0" i="0" sz="1000" u="none" cap="none" strike="noStrike"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3000000" y="4675775"/>
            <a:ext cx="314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AI IMPACT · AI for Good</a:t>
            </a:r>
            <a:endParaRPr b="0" i="0" sz="1000" u="none" cap="none" strike="noStrike"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400" b="1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질문·구조화·검증의 설계 원리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02920" y="987552"/>
            <a:ext cx="7680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생활 발화의 명확화 · 완료 조건 중심의 작업 분해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02920" y="1463040"/>
            <a:ext cx="2468880" cy="1691640"/>
          </a:xfrm>
          <a:prstGeom prst="rect">
            <a:avLst/>
          </a:prstGeom>
          <a:solidFill>
            <a:srgbClr val="242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640080" y="1554480"/>
            <a:ext cx="2194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질문</a:t>
            </a:r>
            <a:r>
              <a:rPr sz="12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   요구의 명확화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640080" y="1920240"/>
            <a:ext cx="2194560" cy="0"/>
          </a:xfrm>
          <a:prstGeom prst="line">
            <a:avLst/>
          </a:prstGeom>
          <a:ln w="9525">
            <a:solidFill>
              <a:srgbClr val="4546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640080" y="1993392"/>
            <a:ext cx="219456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필요·제약·선호의 구분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모호한 발화의 추가 확인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시민 선택·완료 조건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3017520" y="1709928"/>
            <a:ext cx="274320" cy="0"/>
          </a:xfrm>
          <a:prstGeom prst="line">
            <a:avLst/>
          </a:prstGeom>
          <a:ln w="9525">
            <a:solidFill>
              <a:srgbClr val="F4A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ctangle 135"/>
          <p:cNvSpPr/>
          <p:nvPr/>
        </p:nvSpPr>
        <p:spPr>
          <a:xfrm>
            <a:off x="3337560" y="1463040"/>
            <a:ext cx="2468880" cy="1691640"/>
          </a:xfrm>
          <a:prstGeom prst="rect">
            <a:avLst/>
          </a:prstGeom>
          <a:solidFill>
            <a:srgbClr val="242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3474720" y="1554480"/>
            <a:ext cx="2194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구조화</a:t>
            </a:r>
            <a:r>
              <a:rPr sz="12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   업무의 분해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3474720" y="1920240"/>
            <a:ext cx="2194560" cy="0"/>
          </a:xfrm>
          <a:prstGeom prst="line">
            <a:avLst/>
          </a:prstGeom>
          <a:ln w="9525">
            <a:solidFill>
              <a:srgbClr val="4546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3474720" y="1993392"/>
            <a:ext cx="219456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요청 아래 복수 필요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필요별 기관·문의·통화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역할별 도구·허용 범위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5852160" y="1709928"/>
            <a:ext cx="274320" cy="0"/>
          </a:xfrm>
          <a:prstGeom prst="line">
            <a:avLst/>
          </a:prstGeom>
          <a:ln w="9525">
            <a:solidFill>
              <a:srgbClr val="F4A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ectangle 140"/>
          <p:cNvSpPr/>
          <p:nvPr/>
        </p:nvSpPr>
        <p:spPr>
          <a:xfrm>
            <a:off x="6172200" y="1463040"/>
            <a:ext cx="2468880" cy="1691640"/>
          </a:xfrm>
          <a:prstGeom prst="rect">
            <a:avLst/>
          </a:prstGeom>
          <a:solidFill>
            <a:srgbClr val="242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6309360" y="1554480"/>
            <a:ext cx="2194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검증</a:t>
            </a:r>
            <a:r>
              <a:rPr sz="12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   결과의 재확인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6309360" y="1920240"/>
            <a:ext cx="2194559" cy="0"/>
          </a:xfrm>
          <a:prstGeom prst="line">
            <a:avLst/>
          </a:prstGeom>
          <a:ln w="9525">
            <a:solidFill>
              <a:srgbClr val="4546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6309360" y="1993392"/>
            <a:ext cx="219456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기관 답변·조건의 기록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선택 변경·후속 문의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부분 해결·미해결 관리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7406640" y="3154680"/>
            <a:ext cx="0" cy="228600"/>
          </a:xfrm>
          <a:prstGeom prst="line">
            <a:avLst/>
          </a:prstGeom>
          <a:ln w="9525">
            <a:solidFill>
              <a:srgbClr val="4546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H="1">
            <a:off x="1737360" y="3383280"/>
            <a:ext cx="5669280" cy="0"/>
          </a:xfrm>
          <a:prstGeom prst="line">
            <a:avLst/>
          </a:prstGeom>
          <a:ln w="9525">
            <a:solidFill>
              <a:srgbClr val="4546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737360" y="3172968"/>
            <a:ext cx="0" cy="210312"/>
          </a:xfrm>
          <a:prstGeom prst="line">
            <a:avLst/>
          </a:prstGeom>
          <a:ln w="9525">
            <a:solidFill>
              <a:srgbClr val="4546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2011680" y="3392424"/>
            <a:ext cx="51206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5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실행 결과에 따른 후속 질문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02920" y="3749039"/>
            <a:ext cx="8138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▎</a:t>
            </a:r>
            <a:r>
              <a:rPr sz="12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질문 → 구조화 → 실행 → 검증 → 후속 질문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02920" y="4370832"/>
            <a:ext cx="81381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출처: 말결 설계 원리의 적용 · scripts/coordination_tools.py 역할별 도구·동의·선택 기록, 2026.9.18 기준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/>
        </p:nvSpPr>
        <p:spPr>
          <a:xfrm>
            <a:off x="8453900" y="4675775"/>
            <a:ext cx="56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15sec</a:t>
            </a:r>
            <a:endParaRPr b="0" i="0" sz="1000" u="none" cap="none" strike="noStrike"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43" name="Google Shape;143;p19"/>
          <p:cNvSpPr txBox="1"/>
          <p:nvPr/>
        </p:nvSpPr>
        <p:spPr>
          <a:xfrm>
            <a:off x="153550" y="4675775"/>
            <a:ext cx="73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Slide #6</a:t>
            </a:r>
            <a:endParaRPr b="0" i="0" sz="1000" u="none" cap="none" strike="noStrike"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3000000" y="4675775"/>
            <a:ext cx="314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AI IMPACT · AI for Good</a:t>
            </a:r>
            <a:endParaRPr b="0" i="0" sz="1000" u="none" cap="none" strike="noStrike"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400" b="1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규범 구조화와 실행 통제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02920" y="987552"/>
            <a:ext cx="7680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회계 DSL 기반기술 · 말결의 동의·상태 검사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02920" y="1417320"/>
            <a:ext cx="3840480" cy="2468880"/>
          </a:xfrm>
          <a:prstGeom prst="rect">
            <a:avLst/>
          </a:prstGeom>
          <a:solidFill>
            <a:srgbClr val="242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Rectangle 147"/>
          <p:cNvSpPr/>
          <p:nvPr/>
        </p:nvSpPr>
        <p:spPr>
          <a:xfrm>
            <a:off x="4800600" y="1417320"/>
            <a:ext cx="3840480" cy="2468880"/>
          </a:xfrm>
          <a:prstGeom prst="rect">
            <a:avLst/>
          </a:prstGeom>
          <a:solidFill>
            <a:srgbClr val="242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TextBox 148"/>
          <p:cNvSpPr txBox="1"/>
          <p:nvPr/>
        </p:nvSpPr>
        <p:spPr>
          <a:xfrm>
            <a:off x="640080" y="1490472"/>
            <a:ext cx="3566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회계 DSL의 규범 컴파일</a:t>
            </a:r>
            <a:r>
              <a:rPr sz="105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   기반기술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640080" y="1819656"/>
            <a:ext cx="3566160" cy="0"/>
          </a:xfrm>
          <a:prstGeom prst="line">
            <a:avLst/>
          </a:prstGeom>
          <a:ln w="9525">
            <a:solidFill>
              <a:srgbClr val="4546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640080" y="1892808"/>
            <a:ext cx="3200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60120" y="1892808"/>
            <a:ext cx="3200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원문 조항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40080" y="2139696"/>
            <a:ext cx="3200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60120" y="2139696"/>
            <a:ext cx="3200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범위·효력 시점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40080" y="2386584"/>
            <a:ext cx="3200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60120" y="2386584"/>
            <a:ext cx="3200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주체·행위·조건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40080" y="2633472"/>
            <a:ext cx="3200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60120" y="2633472"/>
            <a:ext cx="3200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의무·허용·금지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40080" y="2880360"/>
            <a:ext cx="3200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60120" y="2880360"/>
            <a:ext cx="3200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정적 검사·규범 충돌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40080" y="3127248"/>
            <a:ext cx="3200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60120" y="3127248"/>
            <a:ext cx="3200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서명 규정팩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777240" y="2130552"/>
            <a:ext cx="0" cy="978408"/>
          </a:xfrm>
          <a:prstGeom prst="line">
            <a:avLst/>
          </a:prstGeom>
          <a:ln w="9525">
            <a:solidFill>
              <a:srgbClr val="4546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640080" y="3355848"/>
            <a:ext cx="3566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보조 항목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" y="3557015"/>
            <a:ext cx="3566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판정 근거 보존 · 규정 변경 영향 · 회귀 검증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937760" y="1490472"/>
            <a:ext cx="3566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말결의 실행 시점 검사</a:t>
            </a:r>
            <a:r>
              <a:rPr sz="105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   현행 코드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4937760" y="1819656"/>
            <a:ext cx="3566159" cy="0"/>
          </a:xfrm>
          <a:prstGeom prst="line">
            <a:avLst/>
          </a:prstGeom>
          <a:ln w="9525">
            <a:solidFill>
              <a:srgbClr val="4546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4937760" y="1892808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▪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212080" y="1892808"/>
            <a:ext cx="3246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기관·목적·전달 필드의 동의 범위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937760" y="2212848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▪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212080" y="2212848"/>
            <a:ext cx="3246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요청 revision·중단 상태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937760" y="2532888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▪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212080" y="2532888"/>
            <a:ext cx="3246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멱등키·중복 실행 방지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937760" y="2852928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▪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212080" y="2852928"/>
            <a:ext cx="3246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결과 불명 시 자동 재시도 차단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937760" y="3172968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▪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212080" y="3172968"/>
            <a:ext cx="3246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요청·문의·시도·답변의 연결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937760" y="3493008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▪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212080" y="3493008"/>
            <a:ext cx="3246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시민 선택·후속 행동 기록</a:t>
            </a:r>
          </a:p>
        </p:txBody>
      </p:sp>
      <p:cxnSp>
        <p:nvCxnSpPr>
          <p:cNvPr id="180" name="Connector 179"/>
          <p:cNvCxnSpPr/>
          <p:nvPr/>
        </p:nvCxnSpPr>
        <p:spPr>
          <a:xfrm>
            <a:off x="4416552" y="2651760"/>
            <a:ext cx="310896" cy="0"/>
          </a:xfrm>
          <a:prstGeom prst="line">
            <a:avLst/>
          </a:prstGeom>
          <a:ln w="9525">
            <a:solidFill>
              <a:srgbClr val="F4A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>
            <a:off x="4343400" y="2322576"/>
            <a:ext cx="4572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50" b="0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적용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02920" y="4041648"/>
            <a:ext cx="8138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▎</a:t>
            </a:r>
            <a:r>
              <a:rPr sz="12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규칙·근거·실행 이력의 연결 · 적용 범위별 검증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02920" y="4370832"/>
            <a:ext cx="81381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출처: 회계 DSL 기술도식(규정 위계·규범 컴파일·선택적 판정 게이트·회귀 검증) · src/coordination/engine.ts 검사 조건, 2026.9.18 기준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/>
          <p:nvPr/>
        </p:nvSpPr>
        <p:spPr>
          <a:xfrm>
            <a:off x="8453900" y="4675775"/>
            <a:ext cx="56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15sec</a:t>
            </a:r>
            <a:endParaRPr b="0" i="0" sz="1000" u="none" cap="none" strike="noStrike"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153550" y="4675775"/>
            <a:ext cx="73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Slide #7</a:t>
            </a:r>
            <a:endParaRPr b="0" i="0" sz="1000" u="none" cap="none" strike="noStrike"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3000000" y="4675775"/>
            <a:ext cx="314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AI IMPACT · AI for Good</a:t>
            </a:r>
            <a:endParaRPr b="0" i="0" sz="1000" u="none" cap="none" strike="noStrike"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502920" y="530352"/>
            <a:ext cx="7132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400" b="1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음성·업무·기록의 연결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02920" y="987552"/>
            <a:ext cx="7680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역할별 세션과 공통 API · 상태 검사와 영속 저장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02920" y="1371600"/>
            <a:ext cx="1536192" cy="1115568"/>
          </a:xfrm>
          <a:prstGeom prst="rect">
            <a:avLst/>
          </a:prstGeom>
          <a:solidFill>
            <a:srgbClr val="242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594360" y="1435608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1  </a:t>
            </a:r>
            <a:r>
              <a:rPr sz="1200" b="1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전화·음성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76072" y="1755648"/>
            <a:ext cx="140817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ClawOps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Gemini 실시간 음성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2048255" y="1572768"/>
            <a:ext cx="96013" cy="0"/>
          </a:xfrm>
          <a:prstGeom prst="line">
            <a:avLst/>
          </a:prstGeom>
          <a:ln w="9525">
            <a:solidFill>
              <a:srgbClr val="F4A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Rectangle 166"/>
          <p:cNvSpPr/>
          <p:nvPr/>
        </p:nvSpPr>
        <p:spPr>
          <a:xfrm>
            <a:off x="2153412" y="1371600"/>
            <a:ext cx="1536192" cy="1115568"/>
          </a:xfrm>
          <a:prstGeom prst="rect">
            <a:avLst/>
          </a:prstGeom>
          <a:solidFill>
            <a:srgbClr val="242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2244852" y="1435608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2  </a:t>
            </a:r>
            <a:r>
              <a:rPr sz="1200" b="1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역할별 도구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226564" y="1755648"/>
            <a:ext cx="140817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시민 접수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기관 문의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시민 회신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3698748" y="1572768"/>
            <a:ext cx="96012" cy="0"/>
          </a:xfrm>
          <a:prstGeom prst="line">
            <a:avLst/>
          </a:prstGeom>
          <a:ln w="9525">
            <a:solidFill>
              <a:srgbClr val="F4A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ectangle 170"/>
          <p:cNvSpPr/>
          <p:nvPr/>
        </p:nvSpPr>
        <p:spPr>
          <a:xfrm>
            <a:off x="3803904" y="1371600"/>
            <a:ext cx="1536192" cy="1115568"/>
          </a:xfrm>
          <a:prstGeom prst="rect">
            <a:avLst/>
          </a:prstGeom>
          <a:solidFill>
            <a:srgbClr val="242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TextBox 171"/>
          <p:cNvSpPr txBox="1"/>
          <p:nvPr/>
        </p:nvSpPr>
        <p:spPr>
          <a:xfrm>
            <a:off x="3895344" y="1435608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3  </a:t>
            </a:r>
            <a:r>
              <a:rPr sz="1200" b="1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공통 API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877056" y="1755648"/>
            <a:ext cx="140817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지원망 조회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동의·문의·선택</a:t>
            </a:r>
          </a:p>
        </p:txBody>
      </p:sp>
      <p:cxnSp>
        <p:nvCxnSpPr>
          <p:cNvPr id="174" name="Connector 173"/>
          <p:cNvCxnSpPr/>
          <p:nvPr/>
        </p:nvCxnSpPr>
        <p:spPr>
          <a:xfrm>
            <a:off x="5349240" y="1572768"/>
            <a:ext cx="96012" cy="0"/>
          </a:xfrm>
          <a:prstGeom prst="line">
            <a:avLst/>
          </a:prstGeom>
          <a:ln w="9525">
            <a:solidFill>
              <a:srgbClr val="F4A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Rectangle 174"/>
          <p:cNvSpPr/>
          <p:nvPr/>
        </p:nvSpPr>
        <p:spPr>
          <a:xfrm>
            <a:off x="5454396" y="1371600"/>
            <a:ext cx="1536192" cy="1115568"/>
          </a:xfrm>
          <a:prstGeom prst="rect">
            <a:avLst/>
          </a:prstGeom>
          <a:solidFill>
            <a:srgbClr val="242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5545836" y="1435608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4  </a:t>
            </a:r>
            <a:r>
              <a:rPr sz="1200" b="1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업무 엔진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527548" y="1755648"/>
            <a:ext cx="140817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요청 버전·권한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필요·문의 상태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6999731" y="1572768"/>
            <a:ext cx="96013" cy="0"/>
          </a:xfrm>
          <a:prstGeom prst="line">
            <a:avLst/>
          </a:prstGeom>
          <a:ln w="9525">
            <a:solidFill>
              <a:srgbClr val="F4A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Rectangle 178"/>
          <p:cNvSpPr/>
          <p:nvPr/>
        </p:nvSpPr>
        <p:spPr>
          <a:xfrm>
            <a:off x="7104888" y="1371600"/>
            <a:ext cx="1536192" cy="1115568"/>
          </a:xfrm>
          <a:prstGeom prst="rect">
            <a:avLst/>
          </a:prstGeom>
          <a:solidFill>
            <a:srgbClr val="242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TextBox 179"/>
          <p:cNvSpPr txBox="1"/>
          <p:nvPr/>
        </p:nvSpPr>
        <p:spPr>
          <a:xfrm>
            <a:off x="7196327" y="1435608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5  </a:t>
            </a:r>
            <a:r>
              <a:rPr sz="1200" b="1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영속 기록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7178040" y="1755648"/>
            <a:ext cx="140817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SQLite 요청 원장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음성 작업 journal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02920" y="2651760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실행 통제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502920" y="2926079"/>
            <a:ext cx="8138160" cy="0"/>
          </a:xfrm>
          <a:prstGeom prst="line">
            <a:avLst/>
          </a:prstGeom>
          <a:ln w="9525">
            <a:solidFill>
              <a:srgbClr val="4546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TextBox 183"/>
          <p:cNvSpPr txBox="1"/>
          <p:nvPr/>
        </p:nvSpPr>
        <p:spPr>
          <a:xfrm>
            <a:off x="502920" y="2999232"/>
            <a:ext cx="2606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발신 전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02920" y="3255264"/>
            <a:ext cx="2606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기관 동의·허용 전달 필드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중단·오래된 revision 차단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268980" y="2999232"/>
            <a:ext cx="2606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통화 중·종료 후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268980" y="3255264"/>
            <a:ext cx="2606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멱등키·활성 통화 경쟁 통제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종료 결과·기관 답변 대조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3188970" y="3035808"/>
            <a:ext cx="0" cy="758952"/>
          </a:xfrm>
          <a:prstGeom prst="line">
            <a:avLst/>
          </a:prstGeom>
          <a:ln w="9525">
            <a:solidFill>
              <a:srgbClr val="4546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>
            <a:off x="6035040" y="2999232"/>
            <a:ext cx="2606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시민 회신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035040" y="3255264"/>
            <a:ext cx="2606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수신자 확인·중요 조건 선택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후속 문의·담당자 인계</a:t>
            </a:r>
          </a:p>
        </p:txBody>
      </p:sp>
      <p:cxnSp>
        <p:nvCxnSpPr>
          <p:cNvPr id="191" name="Connector 190"/>
          <p:cNvCxnSpPr/>
          <p:nvPr/>
        </p:nvCxnSpPr>
        <p:spPr>
          <a:xfrm>
            <a:off x="5955029" y="3035808"/>
            <a:ext cx="0" cy="758952"/>
          </a:xfrm>
          <a:prstGeom prst="line">
            <a:avLst/>
          </a:prstGeom>
          <a:ln w="9525">
            <a:solidFill>
              <a:srgbClr val="4546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502920" y="3959352"/>
            <a:ext cx="8138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lang="ko-KR">
                <a:solidFill>
                  <a:srgbClr val="F4A04B"/>
                </a:solidFill>
                <a:latin typeface="맑은 고딕"/>
                <a:ea typeface="맑은 고딕"/>
                <a:cs typeface="맑은 고딕"/>
              </a:rPr>
              <a:t>▎</a:t>
            </a:r>
            <a:r>
              <a:rPr sz="1200" b="0" lang="ko-KR">
                <a:solidFill>
                  <a:srgbClr val="F4F1EB"/>
                </a:solidFill>
                <a:latin typeface="맑은 고딕"/>
                <a:ea typeface="맑은 고딕"/>
                <a:cs typeface="맑은 고딕"/>
              </a:rPr>
              <a:t>BEGIN IMMEDIATE · WAL / FULL · 결과 불명 시 자동 재시도 차단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02920" y="4370832"/>
            <a:ext cx="81381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00" b="0" lang="ko-KR">
                <a:solidFill>
                  <a:srgbClr val="C4C3BF"/>
                </a:solidFill>
                <a:latin typeface="맑은 고딕"/>
                <a:ea typeface="맑은 고딕"/>
                <a:cs typeface="맑은 고딕"/>
              </a:rPr>
              <a:t>출처: src/coordination/engine.ts·store.ts · scripts/coordination_voice.py·coordination_tools.py · docs/ARCHITECTURE.md, 2026.9.18 기준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