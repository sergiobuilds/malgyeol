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ergiobuilds/malgyeol/blob/feat/ai-for-good-product/POLICY_BASIS.md" TargetMode="External"/><Relationship Id="rId3" Type="http://schemas.openxmlformats.org/officeDocument/2006/relationships/hyperlink" Target="https://www.seoul.go.kr/news/news_report.do?nttNo=454831&amp;srchCtgry=475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ergiobuilds/malgyeol/blob/feat/ai-for-good-product/POLICY_BASIS.md" TargetMode="External"/><Relationship Id="rId3" Type="http://schemas.openxmlformats.org/officeDocument/2006/relationships/hyperlink" Target="https://www.s-foodbank.or.kr/intro/intro03" TargetMode="External"/><Relationship Id="rId4" Type="http://schemas.openxmlformats.org/officeDocument/2006/relationships/hyperlink" Target="https://news.seoul.go.kr/welfare/archives/1355" TargetMode="External"/><Relationship Id="rId5" Type="http://schemas.openxmlformats.org/officeDocument/2006/relationships/hyperlink" Target="https://www.s-foodbank.or.kr/justdream/guide" TargetMode="External"/><Relationship Id="rId6" Type="http://schemas.openxmlformats.org/officeDocument/2006/relationships/hyperlink" Target="https://wis.seoul.go.kr/wfs/sos/guide.d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sergiobuilds/malgyeol/blob/feat/ai-for-good-product/POLICY_BASIS.md" TargetMode="External"/><Relationship Id="rId4" Type="http://schemas.openxmlformats.org/officeDocument/2006/relationships/hyperlink" Target="https://github.com/sergiobuilds/malgyeol/blob/feat/ai-for-good-product/dev/active/care-coordination/phone-goal-prompt.md" TargetMode="External"/><Relationship Id="rId5" Type="http://schemas.openxmlformats.org/officeDocument/2006/relationships/hyperlink" Target="https://github.com/sergiobuilds/malgyeol/blob/feat/ai-for-good-product/dev/active/care-coordination/planning-handoff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sergiobuilds/malgyeol/blob/feat/ai-for-good-product/POLICY_BASIS.md" TargetMode="External"/><Relationship Id="rId4" Type="http://schemas.openxmlformats.org/officeDocument/2006/relationships/hyperlink" Target="https://github.com/sergiobuilds/malgyeol/blob/feat/ai-for-good-product/dev/active/care-coordination/planning-handoff.md" TargetMode="External"/><Relationship Id="rId5" Type="http://schemas.openxmlformats.org/officeDocument/2006/relationships/hyperlink" Target="https://github.com/sergiobuilds/malgyeol/blob/feat/ai-for-good-product/dev/active/care-coordination/phone-goal-prompt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ergiobuilds/malgyeol/blob/feat/ai-for-good-product/POLICY_BASIS.md" TargetMode="External"/><Relationship Id="rId3" Type="http://schemas.openxmlformats.org/officeDocument/2006/relationships/hyperlink" Target="https://www.law.go.kr/LSW/ordinInfoP.do?ordinSeq=2100075" TargetMode="External"/><Relationship Id="rId4" Type="http://schemas.openxmlformats.org/officeDocument/2006/relationships/hyperlink" Target="https://www.seoul.go.kr/news/news_report.do?nttNo=454831&amp;srchCtgry=47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ergiobuilds/malgyeol/blob/feat/ai-for-good-product/POLICY_BASIS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1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말결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427" y="40767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전화 기반 생활지원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0" y="381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서울시 정책 협력 및 현장 실증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09600"/>
            <a:ext cx="10363200" cy="15240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8392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B50D0"/>
                </a:solidFill>
                <a:latin typeface="Pretendard GOV"/>
                <a:ea typeface="Pretendard GOV"/>
                <a:cs typeface="Pretendard GOV"/>
              </a:rPr>
              <a:t>01  추진 배경 및 현장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20" b="1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상담 이후 반복 업무의 경감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3600"/>
            <a:ext cx="10363200" cy="9906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33600"/>
            <a:ext cx="91440" cy="9906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84025"/>
            <a:ext cx="990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30" b="1">
                <a:solidFill>
                  <a:srgbClr val="86AFF9"/>
                </a:solidFill>
                <a:latin typeface="Pretendard GOV"/>
                <a:ea typeface="Pretendard GOV"/>
                <a:cs typeface="Pretendard GOV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9800" y="2409010"/>
            <a:ext cx="8763000" cy="561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2220" b="0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생활 필요·이용 조건의 반복 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52800"/>
            <a:ext cx="10363200" cy="9906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352800"/>
            <a:ext cx="91440" cy="9906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603225"/>
            <a:ext cx="990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30" b="1">
                <a:solidFill>
                  <a:srgbClr val="86AFF9"/>
                </a:solidFill>
                <a:latin typeface="Pretendard GOV"/>
                <a:ea typeface="Pretendard GOV"/>
                <a:cs typeface="Pretendard GOV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9800" y="3628210"/>
            <a:ext cx="8763000" cy="561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2220" b="0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기관별 신청 절차·제공 조건의 분산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10363200" cy="9906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572000"/>
            <a:ext cx="91440" cy="9906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822425"/>
            <a:ext cx="990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30" b="1">
                <a:solidFill>
                  <a:srgbClr val="86AFF9"/>
                </a:solidFill>
                <a:latin typeface="Pretendard GOV"/>
                <a:ea typeface="Pretendard GOV"/>
                <a:cs typeface="Pretendard GOV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9800" y="4847410"/>
            <a:ext cx="8763000" cy="561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2220" b="0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기관 문의·조건 조율·결과 회신의 연속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817870"/>
            <a:ext cx="10363200" cy="19050"/>
          </a:xfrm>
          <a:prstGeom prst="rect">
            <a:avLst/>
          </a:prstGeom>
          <a:solidFill>
            <a:srgbClr val="CD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9296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출처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2"/>
              </a:rPr>
              <a:t>말결 정책·실증 근거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3"/>
              </a:rPr>
              <a:t>서울형 통합돌봄 시행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0800" y="6035040"/>
            <a:ext cx="106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1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말결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427" y="40767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전화 기반 생활지원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0" y="381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서울시 정책 협력 및 현장 실증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09600"/>
            <a:ext cx="10363200" cy="15240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8392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B50D0"/>
                </a:solidFill>
                <a:latin typeface="Pretendard GOV"/>
                <a:ea typeface="Pretendard GOV"/>
                <a:cs typeface="Pretendard GOV"/>
              </a:rPr>
              <a:t>02  지원사업 연계체계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20" b="1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네 사업의 기관·관할·이용절차 통합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36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336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536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푸드뱅크·푸드마켓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등록·선정·수령 경로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600" y="21336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600" y="21336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6080" y="24536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찾아가는 푸드마켓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지역·일정·이용 방식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767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0767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3967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그냥드림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사업장·준비물·방문 절차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600" y="40767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4600" y="40767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6080" y="43967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돌봄SOS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거주지 접수·돌봄계획·기관 의뢰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817870"/>
            <a:ext cx="10363200" cy="19050"/>
          </a:xfrm>
          <a:prstGeom prst="rect">
            <a:avLst/>
          </a:prstGeom>
          <a:solidFill>
            <a:srgbClr val="CD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9296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출처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2"/>
              </a:rPr>
              <a:t>말결 정책·실증 근거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3"/>
              </a:rPr>
              <a:t>푸드뱅크·마켓 이용안내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4"/>
              </a:rPr>
              <a:t>서울시 찾아가는 푸드마켓 운영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5"/>
              </a:rPr>
              <a:t>그냥드림 이용안내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6"/>
              </a:rPr>
              <a:t>서울복지포털 돌봄SOS 안내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0800" y="6035040"/>
            <a:ext cx="106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1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말결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427" y="40767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전화 기반 생활지원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0" y="381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서울시 정책 협력 및 현장 실증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09600"/>
            <a:ext cx="10363200" cy="15240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8392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B50D0"/>
                </a:solidFill>
                <a:latin typeface="Pretendard GOV"/>
                <a:ea typeface="Pretendard GOV"/>
                <a:cs typeface="Pretendard GOV"/>
              </a:rPr>
              <a:t>03  전화 기반 지원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20" b="1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AI 기관 통화와 시민 회신의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3600"/>
            <a:ext cx="10363200" cy="7293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570" b="0">
                <a:solidFill>
                  <a:srgbClr val="464C53"/>
                </a:solidFill>
                <a:latin typeface="Pretendard GOV"/>
                <a:ea typeface="Pretendard GOV"/>
                <a:cs typeface="Pretendard GOV"/>
              </a:rPr>
              <a:t>업무 단위 동의와 전달 정보의 제한  ·  기관 문의·수령 방법 조율·신청 의사 전달  ·  기관 답변에 따른 시민 회신·후속 연락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08637"/>
            <a:ext cx="5181600" cy="2653963"/>
          </a:xfrm>
          <a:prstGeom prst="roundRect">
            <a:avLst>
              <a:gd name="adj" fmla="val 6000"/>
            </a:avLst>
          </a:prstGeom>
          <a:solidFill>
            <a:srgbClr val="E5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6800" y="2954357"/>
            <a:ext cx="4876800" cy="2746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1C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9200" y="2951369"/>
            <a:ext cx="45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1">
                <a:solidFill>
                  <a:srgbClr val="256EF4"/>
                </a:solidFill>
                <a:latin typeface="Pretendard GOV"/>
                <a:ea typeface="Pretendard GOV"/>
                <a:cs typeface="Pretendard GOV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51369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시민 요청·제약 파악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6800" y="3411924"/>
            <a:ext cx="4876800" cy="2746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1C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9200" y="3408937"/>
            <a:ext cx="45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1">
                <a:solidFill>
                  <a:srgbClr val="256EF4"/>
                </a:solidFill>
                <a:latin typeface="Pretendard GOV"/>
                <a:ea typeface="Pretendard GOV"/>
                <a:cs typeface="Pretendard GOV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08937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문의 범위 동의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3869491"/>
            <a:ext cx="4876800" cy="2746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1C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9200" y="3866504"/>
            <a:ext cx="45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1">
                <a:solidFill>
                  <a:srgbClr val="256EF4"/>
                </a:solidFill>
                <a:latin typeface="Pretendard GOV"/>
                <a:ea typeface="Pretendard GOV"/>
                <a:cs typeface="Pretendard GOV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66504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기관 발신·조건 조율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6800" y="4327058"/>
            <a:ext cx="4876800" cy="2746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1C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9200" y="4324071"/>
            <a:ext cx="45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1">
                <a:solidFill>
                  <a:srgbClr val="256EF4"/>
                </a:solidFill>
                <a:latin typeface="Pretendard GOV"/>
                <a:ea typeface="Pretendard GOV"/>
                <a:cs typeface="Pretendard GOV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24071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답변·후속 행동 기록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6800" y="4784626"/>
            <a:ext cx="4876800" cy="2746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1C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9200" y="4781638"/>
            <a:ext cx="45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1">
                <a:solidFill>
                  <a:srgbClr val="256EF4"/>
                </a:solidFill>
                <a:latin typeface="Pretendard GOV"/>
                <a:ea typeface="Pretendard GOV"/>
                <a:cs typeface="Pretendard GOV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781638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시민 회신·선택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6800" y="5242193"/>
            <a:ext cx="4876800" cy="2746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1C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9200" y="5239205"/>
            <a:ext cx="45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1">
                <a:solidFill>
                  <a:srgbClr val="256EF4"/>
                </a:solidFill>
                <a:latin typeface="Pretendard GOV"/>
                <a:ea typeface="Pretendard GOV"/>
                <a:cs typeface="Pretendard GOV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239205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2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필요시 기관 재연락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1760" y="2908637"/>
            <a:ext cx="4907280" cy="2150568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lide3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000077"/>
            <a:ext cx="4724400" cy="19676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53200" y="5150645"/>
            <a:ext cx="472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4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실제 담당자 화면 · 기관 문의 항목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817870"/>
            <a:ext cx="10363200" cy="19050"/>
          </a:xfrm>
          <a:prstGeom prst="rect">
            <a:avLst/>
          </a:prstGeom>
          <a:solidFill>
            <a:srgbClr val="CD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35040"/>
            <a:ext cx="9296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출처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3"/>
              </a:rPr>
              <a:t>말결 정책·실증 근거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4"/>
              </a:rPr>
              <a:t>말결 전화 구현 계약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5"/>
              </a:rPr>
              <a:t>말결 계획 인계문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0800" y="6035040"/>
            <a:ext cx="106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1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말결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427" y="40767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전화 기반 생활지원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0" y="381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서울시 정책 협력 및 현장 실증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09600"/>
            <a:ext cx="10363200" cy="15240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8392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B50D0"/>
                </a:solidFill>
                <a:latin typeface="Pretendard GOV"/>
                <a:ea typeface="Pretendard GOV"/>
                <a:cs typeface="Pretendard GOV"/>
              </a:rPr>
              <a:t>04  기관 응답별 후속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20" b="1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필요별 진행과 중요 조건의 시민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3600"/>
            <a:ext cx="5638800" cy="5794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33600"/>
            <a:ext cx="91440" cy="579428"/>
          </a:xfrm>
          <a:prstGeom prst="rect">
            <a:avLst/>
          </a:prstGeom>
          <a:solidFill>
            <a:srgbClr val="06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4790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063A74"/>
                </a:solidFill>
                <a:latin typeface="Pretendard GOV"/>
                <a:ea typeface="Pretendard GOV"/>
                <a:cs typeface="Pretendard GOV"/>
              </a:rPr>
              <a:t>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4790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조리 곤란·생필품 필요·방문 제약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65428"/>
            <a:ext cx="563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80" b="1">
                <a:solidFill>
                  <a:srgbClr val="58616A"/>
                </a:solidFill>
                <a:latin typeface="Pretendard GOV"/>
                <a:ea typeface="Pretendard GOV"/>
                <a:cs typeface="Pretendard GOV"/>
              </a:rPr>
              <a:t>기관 답변에 따른 갈래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3214494"/>
            <a:ext cx="15240" cy="345631"/>
          </a:xfrm>
          <a:prstGeom prst="rect">
            <a:avLst/>
          </a:prstGeom>
          <a:solidFill>
            <a:srgbClr val="B1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143000" y="3560125"/>
            <a:ext cx="259080" cy="0"/>
          </a:xfrm>
          <a:prstGeom prst="line">
            <a:avLst/>
          </a:prstGeom>
          <a:ln w="15240">
            <a:solidFill>
              <a:srgbClr val="B1B8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3214494"/>
            <a:ext cx="5090160" cy="691262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3214494"/>
            <a:ext cx="91440" cy="691262"/>
          </a:xfrm>
          <a:prstGeom prst="rect">
            <a:avLst/>
          </a:prstGeom>
          <a:solidFill>
            <a:srgbClr val="267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52600" y="3385063"/>
            <a:ext cx="121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39" b="1">
                <a:solidFill>
                  <a:srgbClr val="267337"/>
                </a:solidFill>
                <a:latin typeface="Pretendard GOV"/>
                <a:ea typeface="Pretendard GOV"/>
                <a:cs typeface="Pretendard GOV"/>
              </a:rPr>
              <a:t>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2280" y="3385063"/>
            <a:ext cx="3505200" cy="691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739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식사 경로 유지·생필품 대안 탐색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214494"/>
            <a:ext cx="15240" cy="1174053"/>
          </a:xfrm>
          <a:prstGeom prst="rect">
            <a:avLst/>
          </a:prstGeom>
          <a:solidFill>
            <a:srgbClr val="B1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143000" y="4388547"/>
            <a:ext cx="259080" cy="0"/>
          </a:xfrm>
          <a:prstGeom prst="line">
            <a:avLst/>
          </a:prstGeom>
          <a:ln w="15240">
            <a:solidFill>
              <a:srgbClr val="B1B8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463040" y="4042916"/>
            <a:ext cx="5090160" cy="691262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0" y="4042916"/>
            <a:ext cx="91440" cy="691262"/>
          </a:xfrm>
          <a:prstGeom prst="rect">
            <a:avLst/>
          </a:prstGeom>
          <a:solidFill>
            <a:srgbClr val="0B5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52600" y="4053664"/>
            <a:ext cx="121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39" b="1">
                <a:solidFill>
                  <a:srgbClr val="0B50D0"/>
                </a:solidFill>
                <a:latin typeface="Pretendard GOV"/>
                <a:ea typeface="Pretendard GOV"/>
                <a:cs typeface="Pretendard GOV"/>
              </a:rPr>
              <a:t>재선택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2280" y="4053664"/>
            <a:ext cx="3505200" cy="691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739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비용·일정·수령 방법 변경 시 시민 재선택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3214494"/>
            <a:ext cx="15240" cy="2002475"/>
          </a:xfrm>
          <a:prstGeom prst="rect">
            <a:avLst/>
          </a:prstGeom>
          <a:solidFill>
            <a:srgbClr val="B1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143000" y="5216969"/>
            <a:ext cx="259080" cy="0"/>
          </a:xfrm>
          <a:prstGeom prst="line">
            <a:avLst/>
          </a:prstGeom>
          <a:ln w="15240">
            <a:solidFill>
              <a:srgbClr val="B1B8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63040" y="4871338"/>
            <a:ext cx="5090160" cy="691262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63040" y="4871338"/>
            <a:ext cx="91440" cy="691262"/>
          </a:xfrm>
          <a:prstGeom prst="rect">
            <a:avLst/>
          </a:prstGeom>
          <a:solidFill>
            <a:srgbClr val="8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52600" y="5041907"/>
            <a:ext cx="121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39" b="1">
                <a:solidFill>
                  <a:srgbClr val="8A5C00"/>
                </a:solidFill>
                <a:latin typeface="Pretendard GOV"/>
                <a:ea typeface="Pretendard GOV"/>
                <a:cs typeface="Pretendard GOV"/>
              </a:rPr>
              <a:t>인계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2280" y="5041907"/>
            <a:ext cx="3505200" cy="691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739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연락 이력·남은 업무의 담당자 인계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18960" y="2133600"/>
            <a:ext cx="4450080" cy="2251825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lide4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2225040"/>
            <a:ext cx="4267200" cy="206894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10400" y="4476865"/>
            <a:ext cx="426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4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실제 담당자 화면 · 필요별 진행 상태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817870"/>
            <a:ext cx="10363200" cy="19050"/>
          </a:xfrm>
          <a:prstGeom prst="rect">
            <a:avLst/>
          </a:prstGeom>
          <a:solidFill>
            <a:srgbClr val="CD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035040"/>
            <a:ext cx="9296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출처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3"/>
              </a:rPr>
              <a:t>말결 정책·실증 근거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4"/>
              </a:rPr>
              <a:t>말결 계획 인계문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5"/>
              </a:rPr>
              <a:t>말결 전화 구현 계약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6035040"/>
            <a:ext cx="106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1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말결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427" y="40767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전화 기반 생활지원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0" y="381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서울시 정책 협력 및 현장 실증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09600"/>
            <a:ext cx="10363200" cy="15240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8392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B50D0"/>
                </a:solidFill>
                <a:latin typeface="Pretendard GOV"/>
                <a:ea typeface="Pretendard GOV"/>
                <a:cs typeface="Pretendard GOV"/>
              </a:rPr>
              <a:t>05  정책 협력 및 실증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20" b="1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서울시·자치구 협력 실증 제안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36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336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536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정책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음성 동의·문의·신청 보조 범위 정립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600" y="21336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600" y="21336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6080" y="24536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데이터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네 사업의 창구·절차·운영정보 갱신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767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0767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3967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실증환경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참여 자치구·기관·문의 창구 구성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600" y="40767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4600" y="40767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6080" y="43967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지원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담당자 인계·개인정보 검토·측정자료 협력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817870"/>
            <a:ext cx="10363200" cy="19050"/>
          </a:xfrm>
          <a:prstGeom prst="rect">
            <a:avLst/>
          </a:prstGeom>
          <a:solidFill>
            <a:srgbClr val="CD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9296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출처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2"/>
              </a:rPr>
              <a:t>말결 정책·실증 근거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3"/>
              </a:rPr>
              <a:t>서울특별시 지역사회 돌봄 통합지원에 관한 조례</a:t>
            </a:r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  ·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4"/>
              </a:rPr>
              <a:t>서울형 통합돌봄 시행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0800" y="6035040"/>
            <a:ext cx="106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1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말결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427" y="40767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전화 기반 생활지원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0" y="381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서울시 정책 협력 및 현장 실증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09600"/>
            <a:ext cx="10363200" cy="15240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8392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10" b="1">
                <a:solidFill>
                  <a:srgbClr val="0B50D0"/>
                </a:solidFill>
                <a:latin typeface="Pretendard GOV"/>
                <a:ea typeface="Pretendard GOV"/>
                <a:cs typeface="Pretendard GOV"/>
              </a:rPr>
              <a:t>06  성과관리 및 추진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20" b="1">
                <a:solidFill>
                  <a:srgbClr val="1E2124"/>
                </a:solidFill>
                <a:latin typeface="Pretendard GOV"/>
                <a:ea typeface="Pretendard GOV"/>
                <a:cs typeface="Pretendard GOV"/>
              </a:rPr>
              <a:t>업무부담·연결 결과 중심의 실증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36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336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536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부담 지표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요청당 통화 횟수·담당자 처리시간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600" y="21336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600" y="21336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6080" y="24536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연결 지표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기관 응답시간·필요별 결과·회신 도달률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767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0767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3967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통제 지표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중복·취소·권한 범위 밖 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600" y="4076700"/>
            <a:ext cx="4953000" cy="14859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4600" y="4076700"/>
            <a:ext cx="91440" cy="1485900"/>
          </a:xfrm>
          <a:prstGeom prst="rect">
            <a:avLst/>
          </a:prstGeom>
          <a:solidFill>
            <a:srgbClr val="25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6080" y="4396740"/>
            <a:ext cx="422148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2120" b="1">
                <a:solidFill>
                  <a:srgbClr val="083891"/>
                </a:solidFill>
                <a:latin typeface="Pretendard GOV"/>
                <a:ea typeface="Pretendard GOV"/>
                <a:cs typeface="Pretendard GOV"/>
              </a:rPr>
              <a:t>추진 과제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33363D"/>
                </a:solidFill>
                <a:latin typeface="Pretendard GOV"/>
                <a:ea typeface="Pretendard GOV"/>
                <a:cs typeface="Pretendard GOV"/>
              </a:rPr>
              <a:t>기준선 측정·협력 실증·단계적 확대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817870"/>
            <a:ext cx="10363200" cy="19050"/>
          </a:xfrm>
          <a:prstGeom prst="rect">
            <a:avLst/>
          </a:prstGeom>
          <a:solidFill>
            <a:srgbClr val="CD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9296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</a:rPr>
              <a:t>출처  </a:t>
            </a:r>
            <a:r>
              <a:rPr sz="1190" b="0">
                <a:solidFill>
                  <a:srgbClr val="6D7882"/>
                </a:solidFill>
                <a:latin typeface="Pretendard GOV"/>
                <a:ea typeface="Pretendard GOV"/>
                <a:cs typeface="Pretendard GOV"/>
                <a:hlinkClick r:id="rId2"/>
              </a:rPr>
              <a:t>말결 정책·실증 근거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0800" y="6035040"/>
            <a:ext cx="106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90" b="0">
                <a:solidFill>
                  <a:srgbClr val="8A949E"/>
                </a:solidFill>
                <a:latin typeface="Pretendard GOV"/>
                <a:ea typeface="Pretendard GOV"/>
                <a:cs typeface="Pretendard GOV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